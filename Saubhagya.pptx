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ooper Hewitt Bold" charset="1" panose="00000000000000000000"/>
      <p:regular r:id="rId18"/>
    </p:embeddedFont>
    <p:embeddedFont>
      <p:font typeface="Cooper Hewitt" charset="1" panose="00000000000000000000"/>
      <p:regular r:id="rId19"/>
    </p:embeddedFont>
    <p:embeddedFont>
      <p:font typeface="DM Sans Bold" charset="1" panose="00000000000000000000"/>
      <p:regular r:id="rId20"/>
    </p:embeddedFont>
    <p:embeddedFont>
      <p:font typeface="DM Sans" charset="1" panose="00000000000000000000"/>
      <p:regular r:id="rId21"/>
    </p:embeddedFont>
    <p:embeddedFont>
      <p:font typeface="Abril Fatface" charset="1" panose="02000503000000020003"/>
      <p:regular r:id="rId22"/>
    </p:embeddedFont>
    <p:embeddedFont>
      <p:font typeface="Lilita One" charset="1" panose="02000000000000000000"/>
      <p:regular r:id="rId23"/>
    </p:embeddedFont>
    <p:embeddedFont>
      <p:font typeface="Helvetica World" charset="1" panose="020B0500040000020004"/>
      <p:regular r:id="rId24"/>
    </p:embeddedFont>
    <p:embeddedFont>
      <p:font typeface="Canva Sans Bold" charset="1" panose="020B0803030501040103"/>
      <p:regular r:id="rId25"/>
    </p:embeddedFont>
    <p:embeddedFont>
      <p:font typeface="Canva Sans" charset="1" panose="020B0503030501040103"/>
      <p:regular r:id="rId26"/>
    </p:embeddedFont>
    <p:embeddedFont>
      <p:font typeface="DM Serif Display" charset="1" panose="00000000000000000000"/>
      <p:regular r:id="rId27"/>
    </p:embeddedFont>
    <p:embeddedFont>
      <p:font typeface="The Seasons" charset="1" panose="00000000000000000000"/>
      <p:regular r:id="rId28"/>
    </p:embeddedFont>
    <p:embeddedFont>
      <p:font typeface="Agrandir" charset="1" panose="00000500000000000000"/>
      <p:regular r:id="rId29"/>
    </p:embeddedFont>
    <p:embeddedFont>
      <p:font typeface="Gagalin" charset="1" panose="000005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jpeg" Type="http://schemas.openxmlformats.org/officeDocument/2006/relationships/image"/><Relationship Id="rId5" Target="../media/image1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jpeg" Type="http://schemas.openxmlformats.org/officeDocument/2006/relationships/image"/><Relationship Id="rId7" Target="../media/image20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24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5.jpeg" Type="http://schemas.openxmlformats.org/officeDocument/2006/relationships/image"/><Relationship Id="rId5" Target="../media/image26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7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8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36.png" Type="http://schemas.openxmlformats.org/officeDocument/2006/relationships/image"/><Relationship Id="rId9" Target="../media/image3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22887" y="-4247682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69" y="0"/>
                </a:lnTo>
                <a:lnTo>
                  <a:pt x="19258069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495073" y="4736644"/>
            <a:ext cx="3701593" cy="4723610"/>
          </a:xfrm>
          <a:custGeom>
            <a:avLst/>
            <a:gdLst/>
            <a:ahLst/>
            <a:cxnLst/>
            <a:rect r="r" b="b" t="t" l="l"/>
            <a:pathLst>
              <a:path h="4723610" w="3701593">
                <a:moveTo>
                  <a:pt x="0" y="0"/>
                </a:moveTo>
                <a:lnTo>
                  <a:pt x="3701593" y="0"/>
                </a:lnTo>
                <a:lnTo>
                  <a:pt x="3701593" y="4723611"/>
                </a:lnTo>
                <a:lnTo>
                  <a:pt x="0" y="47236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635923" y="7727387"/>
            <a:ext cx="3718302" cy="2393234"/>
          </a:xfrm>
          <a:custGeom>
            <a:avLst/>
            <a:gdLst/>
            <a:ahLst/>
            <a:cxnLst/>
            <a:rect r="r" b="b" t="t" l="l"/>
            <a:pathLst>
              <a:path h="2393234" w="3718302">
                <a:moveTo>
                  <a:pt x="0" y="0"/>
                </a:moveTo>
                <a:lnTo>
                  <a:pt x="3718301" y="0"/>
                </a:lnTo>
                <a:lnTo>
                  <a:pt x="3718301" y="2393234"/>
                </a:lnTo>
                <a:lnTo>
                  <a:pt x="0" y="23932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580343" y="6177318"/>
            <a:ext cx="2882196" cy="3943304"/>
          </a:xfrm>
          <a:custGeom>
            <a:avLst/>
            <a:gdLst/>
            <a:ahLst/>
            <a:cxnLst/>
            <a:rect r="r" b="b" t="t" l="l"/>
            <a:pathLst>
              <a:path h="3943304" w="2882196">
                <a:moveTo>
                  <a:pt x="0" y="0"/>
                </a:moveTo>
                <a:lnTo>
                  <a:pt x="2882196" y="0"/>
                </a:lnTo>
                <a:lnTo>
                  <a:pt x="2882196" y="3943303"/>
                </a:lnTo>
                <a:lnTo>
                  <a:pt x="0" y="39433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225228" y="111937"/>
            <a:ext cx="6062772" cy="8812067"/>
          </a:xfrm>
          <a:custGeom>
            <a:avLst/>
            <a:gdLst/>
            <a:ahLst/>
            <a:cxnLst/>
            <a:rect r="r" b="b" t="t" l="l"/>
            <a:pathLst>
              <a:path h="8812067" w="6062772">
                <a:moveTo>
                  <a:pt x="0" y="0"/>
                </a:moveTo>
                <a:lnTo>
                  <a:pt x="6062772" y="0"/>
                </a:lnTo>
                <a:lnTo>
                  <a:pt x="6062772" y="8812067"/>
                </a:lnTo>
                <a:lnTo>
                  <a:pt x="0" y="881206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1" r="0" b="-2497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9440" y="-133492"/>
            <a:ext cx="9466466" cy="3305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37"/>
              </a:lnSpc>
            </a:pPr>
            <a:r>
              <a:rPr lang="en-US" sz="8812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CLOUD COMPUTING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193689" y="2923987"/>
            <a:ext cx="4321072" cy="1969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37"/>
              </a:lnSpc>
            </a:pPr>
            <a:r>
              <a:rPr lang="en-US" sz="5241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IN MODERN DATA SCIENCE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91258" y="6294018"/>
            <a:ext cx="3839015" cy="4274208"/>
          </a:xfrm>
          <a:custGeom>
            <a:avLst/>
            <a:gdLst/>
            <a:ahLst/>
            <a:cxnLst/>
            <a:rect r="r" b="b" t="t" l="l"/>
            <a:pathLst>
              <a:path h="4274208" w="3839015">
                <a:moveTo>
                  <a:pt x="0" y="0"/>
                </a:moveTo>
                <a:lnTo>
                  <a:pt x="3839015" y="0"/>
                </a:lnTo>
                <a:lnTo>
                  <a:pt x="3839015" y="4274207"/>
                </a:lnTo>
                <a:lnTo>
                  <a:pt x="0" y="42742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7135522" cy="10287000"/>
          </a:xfrm>
          <a:custGeom>
            <a:avLst/>
            <a:gdLst/>
            <a:ahLst/>
            <a:cxnLst/>
            <a:rect r="r" b="b" t="t" l="l"/>
            <a:pathLst>
              <a:path h="10287000" w="7135522">
                <a:moveTo>
                  <a:pt x="0" y="0"/>
                </a:moveTo>
                <a:lnTo>
                  <a:pt x="7135522" y="0"/>
                </a:lnTo>
                <a:lnTo>
                  <a:pt x="713552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669" r="0" b="-1669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119118" y="2032038"/>
            <a:ext cx="7072639" cy="1209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INTRODUCTION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645930"/>
            <a:ext cx="6313346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3222663"/>
            <a:ext cx="9005811" cy="3256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4"/>
              </a:lnSpc>
              <a:spcBef>
                <a:spcPct val="0"/>
              </a:spcBef>
            </a:pPr>
          </a:p>
          <a:p>
            <a:pPr algn="ctr">
              <a:lnSpc>
                <a:spcPts val="2674"/>
              </a:lnSpc>
              <a:spcBef>
                <a:spcPct val="0"/>
              </a:spcBef>
            </a:pPr>
          </a:p>
          <a:p>
            <a:pPr algn="ctr">
              <a:lnSpc>
                <a:spcPts val="2674"/>
              </a:lnSpc>
              <a:spcBef>
                <a:spcPct val="0"/>
              </a:spcBef>
            </a:pPr>
            <a:r>
              <a:rPr lang="en-US" sz="2073" spc="-114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DATA SCIENCE = EXTRACTING INSIGHTS FROM DATA USING STATISTICS, MACHINE LEARNING &amp; ANALYTICS</a:t>
            </a:r>
          </a:p>
          <a:p>
            <a:pPr algn="ctr">
              <a:lnSpc>
                <a:spcPts val="2674"/>
              </a:lnSpc>
              <a:spcBef>
                <a:spcPct val="0"/>
              </a:spcBef>
            </a:pPr>
          </a:p>
          <a:p>
            <a:pPr algn="ctr">
              <a:lnSpc>
                <a:spcPts val="2674"/>
              </a:lnSpc>
              <a:spcBef>
                <a:spcPct val="0"/>
              </a:spcBef>
            </a:pPr>
            <a:r>
              <a:rPr lang="en-US" sz="2073" spc="-114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HUGE GROWTH OF DATA FROM SOCIAL MEDIA, IOT, E-COMMERCE, BANKING, HEALTHCARE, ETC.</a:t>
            </a:r>
          </a:p>
          <a:p>
            <a:pPr algn="ctr">
              <a:lnSpc>
                <a:spcPts val="2674"/>
              </a:lnSpc>
              <a:spcBef>
                <a:spcPct val="0"/>
              </a:spcBef>
            </a:pPr>
          </a:p>
          <a:p>
            <a:pPr algn="ctr">
              <a:lnSpc>
                <a:spcPts val="2674"/>
              </a:lnSpc>
              <a:spcBef>
                <a:spcPct val="0"/>
              </a:spcBef>
            </a:pPr>
            <a:r>
              <a:rPr lang="en-US" sz="2073" spc="-114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TRADITIONAL COMPUTERS CANNOT STORE OR PROCESS MASSIVE DATASETS</a:t>
            </a:r>
          </a:p>
          <a:p>
            <a:pPr algn="ctr">
              <a:lnSpc>
                <a:spcPts val="2674"/>
              </a:lnSpc>
              <a:spcBef>
                <a:spcPct val="0"/>
              </a:spcBef>
            </a:pPr>
            <a:r>
              <a:rPr lang="en-US" sz="2073" spc="-114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➡️ CLOUD COMPUTING PROVIDES SCALABLE STORAGE &amp; COMPUTING POWER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757538" y="1028700"/>
            <a:ext cx="6504767" cy="6098984"/>
          </a:xfrm>
          <a:custGeom>
            <a:avLst/>
            <a:gdLst/>
            <a:ahLst/>
            <a:cxnLst/>
            <a:rect r="r" b="b" t="t" l="l"/>
            <a:pathLst>
              <a:path h="6098984" w="6504767">
                <a:moveTo>
                  <a:pt x="0" y="0"/>
                </a:moveTo>
                <a:lnTo>
                  <a:pt x="6504767" y="0"/>
                </a:lnTo>
                <a:lnTo>
                  <a:pt x="6504767" y="6098984"/>
                </a:lnTo>
                <a:lnTo>
                  <a:pt x="0" y="60989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478" t="-21526" r="-7478" b="-4648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845100" y="7228042"/>
            <a:ext cx="2783451" cy="3058958"/>
          </a:xfrm>
          <a:custGeom>
            <a:avLst/>
            <a:gdLst/>
            <a:ahLst/>
            <a:cxnLst/>
            <a:rect r="r" b="b" t="t" l="l"/>
            <a:pathLst>
              <a:path h="3058958" w="2783451">
                <a:moveTo>
                  <a:pt x="0" y="0"/>
                </a:moveTo>
                <a:lnTo>
                  <a:pt x="2783451" y="0"/>
                </a:lnTo>
                <a:lnTo>
                  <a:pt x="2783451" y="3058958"/>
                </a:lnTo>
                <a:lnTo>
                  <a:pt x="0" y="3058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3903" r="0" b="-10791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76230" y="981075"/>
            <a:ext cx="10131003" cy="5218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53"/>
              </a:lnSpc>
            </a:pPr>
          </a:p>
          <a:p>
            <a:pPr algn="just">
              <a:lnSpc>
                <a:spcPts val="3753"/>
              </a:lnSpc>
            </a:pPr>
          </a:p>
          <a:p>
            <a:pPr algn="just">
              <a:lnSpc>
                <a:spcPts val="3753"/>
              </a:lnSpc>
            </a:pPr>
            <a:r>
              <a:rPr lang="en-US" sz="2681">
                <a:solidFill>
                  <a:srgbClr val="343434"/>
                </a:solidFill>
                <a:latin typeface="Abril Fatface"/>
                <a:ea typeface="Abril Fatface"/>
                <a:cs typeface="Abril Fatface"/>
                <a:sym typeface="Abril Fatface"/>
              </a:rPr>
              <a:t>On-demand delivery of computing resources over the internet</a:t>
            </a:r>
          </a:p>
          <a:p>
            <a:pPr algn="just">
              <a:lnSpc>
                <a:spcPts val="3753"/>
              </a:lnSpc>
            </a:pPr>
          </a:p>
          <a:p>
            <a:pPr algn="just">
              <a:lnSpc>
                <a:spcPts val="3753"/>
              </a:lnSpc>
            </a:pPr>
            <a:r>
              <a:rPr lang="en-US" sz="2681">
                <a:solidFill>
                  <a:srgbClr val="343434"/>
                </a:solidFill>
                <a:latin typeface="Abril Fatface"/>
                <a:ea typeface="Abril Fatface"/>
                <a:cs typeface="Abril Fatface"/>
                <a:sym typeface="Abril Fatface"/>
              </a:rPr>
              <a:t>Examples of cloud platforms:</a:t>
            </a:r>
          </a:p>
          <a:p>
            <a:pPr algn="just">
              <a:lnSpc>
                <a:spcPts val="3753"/>
              </a:lnSpc>
            </a:pPr>
          </a:p>
          <a:p>
            <a:pPr algn="just">
              <a:lnSpc>
                <a:spcPts val="3753"/>
              </a:lnSpc>
            </a:pPr>
            <a:r>
              <a:rPr lang="en-US" sz="2681">
                <a:solidFill>
                  <a:srgbClr val="343434"/>
                </a:solidFill>
                <a:latin typeface="Abril Fatface"/>
                <a:ea typeface="Abril Fatface"/>
                <a:cs typeface="Abril Fatface"/>
                <a:sym typeface="Abril Fatface"/>
              </a:rPr>
              <a:t>AWS, Google Cloud, Microsoft Azure</a:t>
            </a:r>
          </a:p>
          <a:p>
            <a:pPr algn="just">
              <a:lnSpc>
                <a:spcPts val="3753"/>
              </a:lnSpc>
            </a:pPr>
          </a:p>
          <a:p>
            <a:pPr algn="just">
              <a:lnSpc>
                <a:spcPts val="3753"/>
              </a:lnSpc>
            </a:pPr>
            <a:r>
              <a:rPr lang="en-US" sz="2681">
                <a:solidFill>
                  <a:srgbClr val="343434"/>
                </a:solidFill>
                <a:latin typeface="Abril Fatface"/>
                <a:ea typeface="Abril Fatface"/>
                <a:cs typeface="Abril Fatface"/>
                <a:sym typeface="Abril Fatface"/>
              </a:rPr>
              <a:t>Pay only for what you use (like electricity)</a:t>
            </a:r>
          </a:p>
          <a:p>
            <a:pPr algn="just">
              <a:lnSpc>
                <a:spcPts val="3753"/>
              </a:lnSpc>
            </a:pPr>
          </a:p>
          <a:p>
            <a:pPr algn="just">
              <a:lnSpc>
                <a:spcPts val="3753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6230" y="6609959"/>
            <a:ext cx="10117514" cy="161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29"/>
              </a:lnSpc>
            </a:pPr>
            <a:r>
              <a:rPr lang="en-US" sz="3092">
                <a:solidFill>
                  <a:srgbClr val="343434"/>
                </a:solidFill>
                <a:latin typeface="Abril Fatface"/>
                <a:ea typeface="Abril Fatface"/>
                <a:cs typeface="Abril Fatface"/>
                <a:sym typeface="Abril Fatface"/>
              </a:rPr>
              <a:t>Watching movies on Netflix without downloading – similar to using cloud services without needing local hardware.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6600" y="5625936"/>
            <a:ext cx="4235956" cy="573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</a:pPr>
            <a:r>
              <a:rPr lang="en-US" sz="3299">
                <a:solidFill>
                  <a:srgbClr val="343434"/>
                </a:solidFill>
                <a:latin typeface="Lilita One"/>
                <a:ea typeface="Lilita One"/>
                <a:cs typeface="Lilita One"/>
                <a:sym typeface="Lilita One"/>
              </a:rPr>
              <a:t>REAL LIFE EXAMPLE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6230" y="-49518"/>
            <a:ext cx="11181308" cy="1078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6300">
                <a:solidFill>
                  <a:srgbClr val="343434"/>
                </a:solidFill>
                <a:latin typeface="Abril Fatface"/>
                <a:ea typeface="Abril Fatface"/>
                <a:cs typeface="Abril Fatface"/>
                <a:sym typeface="Abril Fatface"/>
              </a:rPr>
              <a:t>WHAT IS CLOUD COMPUTING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40708" y="3004304"/>
            <a:ext cx="3102858" cy="5004610"/>
          </a:xfrm>
          <a:custGeom>
            <a:avLst/>
            <a:gdLst/>
            <a:ahLst/>
            <a:cxnLst/>
            <a:rect r="r" b="b" t="t" l="l"/>
            <a:pathLst>
              <a:path h="5004610" w="3102858">
                <a:moveTo>
                  <a:pt x="0" y="0"/>
                </a:moveTo>
                <a:lnTo>
                  <a:pt x="3102858" y="0"/>
                </a:lnTo>
                <a:lnTo>
                  <a:pt x="3102858" y="5004610"/>
                </a:lnTo>
                <a:lnTo>
                  <a:pt x="0" y="50046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433340"/>
            <a:ext cx="4938617" cy="307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65"/>
              </a:lnSpc>
            </a:pPr>
            <a:r>
              <a:rPr lang="en-US" sz="4189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CONNECTION BETWEEN CLOUD &amp; DATA SCIENCE</a:t>
            </a:r>
          </a:p>
          <a:p>
            <a:pPr algn="l">
              <a:lnSpc>
                <a:spcPts val="5865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55075" y="5095875"/>
            <a:ext cx="10114680" cy="393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37"/>
              </a:lnSpc>
            </a:pPr>
            <a:r>
              <a:rPr lang="en-US" sz="2527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Data Scientists need:</a:t>
            </a:r>
          </a:p>
          <a:p>
            <a:pPr algn="just">
              <a:lnSpc>
                <a:spcPts val="3537"/>
              </a:lnSpc>
            </a:pPr>
          </a:p>
          <a:p>
            <a:pPr algn="just">
              <a:lnSpc>
                <a:spcPts val="3537"/>
              </a:lnSpc>
            </a:pPr>
            <a:r>
              <a:rPr lang="en-US" sz="2527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Massive storage for big datasets</a:t>
            </a:r>
          </a:p>
          <a:p>
            <a:pPr algn="just">
              <a:lnSpc>
                <a:spcPts val="3537"/>
              </a:lnSpc>
            </a:pPr>
          </a:p>
          <a:p>
            <a:pPr algn="just">
              <a:lnSpc>
                <a:spcPts val="3537"/>
              </a:lnSpc>
            </a:pPr>
            <a:r>
              <a:rPr lang="en-US" sz="2527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Powerful servers to train AI &amp; ML models</a:t>
            </a:r>
          </a:p>
          <a:p>
            <a:pPr algn="just">
              <a:lnSpc>
                <a:spcPts val="3537"/>
              </a:lnSpc>
            </a:pPr>
          </a:p>
          <a:p>
            <a:pPr algn="just">
              <a:lnSpc>
                <a:spcPts val="3537"/>
              </a:lnSpc>
            </a:pPr>
            <a:r>
              <a:rPr lang="en-US" sz="2527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Tools for collaboration and deployment</a:t>
            </a:r>
          </a:p>
          <a:p>
            <a:pPr algn="just">
              <a:lnSpc>
                <a:spcPts val="3537"/>
              </a:lnSpc>
            </a:pPr>
          </a:p>
          <a:p>
            <a:pPr algn="just">
              <a:lnSpc>
                <a:spcPts val="3537"/>
              </a:lnSpc>
            </a:pPr>
            <a:r>
              <a:rPr lang="en-US" sz="2527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➡️ Cloud provides all these instantly without buying machines.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00409" y="0"/>
            <a:ext cx="3235530" cy="4707782"/>
          </a:xfrm>
          <a:custGeom>
            <a:avLst/>
            <a:gdLst/>
            <a:ahLst/>
            <a:cxnLst/>
            <a:rect r="r" b="b" t="t" l="l"/>
            <a:pathLst>
              <a:path h="4707782" w="3235530">
                <a:moveTo>
                  <a:pt x="0" y="0"/>
                </a:moveTo>
                <a:lnTo>
                  <a:pt x="3235530" y="0"/>
                </a:lnTo>
                <a:lnTo>
                  <a:pt x="3235530" y="4707782"/>
                </a:lnTo>
                <a:lnTo>
                  <a:pt x="0" y="47077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67277" y="4027567"/>
            <a:ext cx="7794104" cy="4294425"/>
          </a:xfrm>
          <a:custGeom>
            <a:avLst/>
            <a:gdLst/>
            <a:ahLst/>
            <a:cxnLst/>
            <a:rect r="r" b="b" t="t" l="l"/>
            <a:pathLst>
              <a:path h="4294425" w="7794104">
                <a:moveTo>
                  <a:pt x="0" y="0"/>
                </a:moveTo>
                <a:lnTo>
                  <a:pt x="7794105" y="0"/>
                </a:lnTo>
                <a:lnTo>
                  <a:pt x="7794105" y="4294424"/>
                </a:lnTo>
                <a:lnTo>
                  <a:pt x="0" y="42944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665" r="0" b="-266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610164" y="4924322"/>
            <a:ext cx="5308007" cy="4845167"/>
          </a:xfrm>
          <a:custGeom>
            <a:avLst/>
            <a:gdLst/>
            <a:ahLst/>
            <a:cxnLst/>
            <a:rect r="r" b="b" t="t" l="l"/>
            <a:pathLst>
              <a:path h="4845167" w="5308007">
                <a:moveTo>
                  <a:pt x="0" y="0"/>
                </a:moveTo>
                <a:lnTo>
                  <a:pt x="5308008" y="0"/>
                </a:lnTo>
                <a:lnTo>
                  <a:pt x="5308008" y="4845166"/>
                </a:lnTo>
                <a:lnTo>
                  <a:pt x="0" y="48451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24879" r="0" b="-25247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79093" y="1700267"/>
            <a:ext cx="9234378" cy="200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3"/>
              </a:lnSpc>
            </a:pPr>
            <a:r>
              <a:rPr lang="en-US" sz="5288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WHY CLOUD IS IMPORTANT FOR DATA SCIENCE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030202" y="9502788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7277" y="8813755"/>
            <a:ext cx="8876723" cy="727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0"/>
              </a:lnSpc>
              <a:spcBef>
                <a:spcPct val="0"/>
              </a:spcBef>
            </a:pPr>
            <a:r>
              <a:rPr lang="en-US" b="true" sz="2217" spc="-12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EXAMPLE: </a:t>
            </a:r>
            <a:r>
              <a:rPr lang="en-US" sz="2217" spc="-12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 SMALL</a:t>
            </a:r>
            <a:r>
              <a:rPr lang="en-US" sz="2217" spc="-12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STARTUP ANALYZING 5 TB OF CUSTOMER DATA CAN RENT CLOUD SERVERS INSTEAD OF BUYING EXPENSIVE HARDWARE.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70069" y="-3199653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69" y="0"/>
                </a:lnTo>
                <a:lnTo>
                  <a:pt x="19258069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21709" y="1729429"/>
            <a:ext cx="9823393" cy="6828142"/>
          </a:xfrm>
          <a:custGeom>
            <a:avLst/>
            <a:gdLst/>
            <a:ahLst/>
            <a:cxnLst/>
            <a:rect r="r" b="b" t="t" l="l"/>
            <a:pathLst>
              <a:path h="6828142" w="9823393">
                <a:moveTo>
                  <a:pt x="0" y="0"/>
                </a:moveTo>
                <a:lnTo>
                  <a:pt x="9823394" y="0"/>
                </a:lnTo>
                <a:lnTo>
                  <a:pt x="9823394" y="6828142"/>
                </a:lnTo>
                <a:lnTo>
                  <a:pt x="0" y="68281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3092" r="0" b="-44057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09254" y="1947775"/>
            <a:ext cx="10047527" cy="202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4"/>
              </a:lnSpc>
            </a:pPr>
            <a:r>
              <a:rPr lang="en-US" sz="5388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BIG DATA &amp; CLOUD COMPUTING</a:t>
            </a:r>
          </a:p>
          <a:p>
            <a:pPr algn="l">
              <a:lnSpc>
                <a:spcPts val="7544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35497" y="3231834"/>
            <a:ext cx="8308503" cy="1477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37"/>
              </a:lnSpc>
            </a:pPr>
            <a:r>
              <a:rPr lang="en-US" sz="2526">
                <a:solidFill>
                  <a:srgbClr val="34343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Big Data = Volume, Velocity, Variety</a:t>
            </a:r>
          </a:p>
          <a:p>
            <a:pPr algn="just">
              <a:lnSpc>
                <a:spcPts val="3537"/>
              </a:lnSpc>
            </a:pPr>
          </a:p>
          <a:p>
            <a:pPr algn="just">
              <a:lnSpc>
                <a:spcPts val="4756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09254" y="4103187"/>
            <a:ext cx="6374469" cy="287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6"/>
              </a:lnSpc>
            </a:pPr>
            <a:r>
              <a:rPr lang="en-US" sz="3254" b="true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Tools use</a:t>
            </a:r>
            <a:r>
              <a:rPr lang="en-US" b="true" sz="3254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 in cloud for big data:</a:t>
            </a:r>
          </a:p>
          <a:p>
            <a:pPr algn="ctr">
              <a:lnSpc>
                <a:spcPts val="4556"/>
              </a:lnSpc>
            </a:pPr>
          </a:p>
          <a:p>
            <a:pPr algn="ctr">
              <a:lnSpc>
                <a:spcPts val="4556"/>
              </a:lnSpc>
            </a:pPr>
          </a:p>
          <a:p>
            <a:pPr algn="ctr">
              <a:lnSpc>
                <a:spcPts val="4556"/>
              </a:lnSpc>
            </a:pPr>
          </a:p>
          <a:p>
            <a:pPr algn="ctr">
              <a:lnSpc>
                <a:spcPts val="4556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779137" y="4904239"/>
            <a:ext cx="485388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343434"/>
                </a:solidFill>
                <a:latin typeface="Canva Sans"/>
                <a:ea typeface="Canva Sans"/>
                <a:cs typeface="Canva Sans"/>
                <a:sym typeface="Canva Sans"/>
              </a:rPr>
              <a:t>Ha</a:t>
            </a:r>
            <a:r>
              <a:rPr lang="en-US" sz="3000">
                <a:solidFill>
                  <a:srgbClr val="343434"/>
                </a:solidFill>
                <a:latin typeface="Canva Sans"/>
                <a:ea typeface="Canva Sans"/>
                <a:cs typeface="Canva Sans"/>
                <a:sym typeface="Canva Sans"/>
              </a:rPr>
              <a:t>doop, Spark, Databricks</a:t>
            </a:r>
          </a:p>
          <a:p>
            <a:pPr algn="ctr">
              <a:lnSpc>
                <a:spcPts val="420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551715" y="5894839"/>
            <a:ext cx="1813247" cy="514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3434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EXAMPLE</a:t>
            </a:r>
            <a:r>
              <a:rPr lang="en-US" sz="3000">
                <a:solidFill>
                  <a:srgbClr val="3434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61079" y="6618738"/>
            <a:ext cx="7860631" cy="727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3434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E-commerce</a:t>
            </a:r>
            <a:r>
              <a:rPr lang="en-US" sz="2100">
                <a:solidFill>
                  <a:srgbClr val="3434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websites like Amazon analyze millions of orders per day using cloud big-data tools to recommend products.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990356" y="684800"/>
            <a:ext cx="766554" cy="1414781"/>
          </a:xfrm>
          <a:custGeom>
            <a:avLst/>
            <a:gdLst/>
            <a:ahLst/>
            <a:cxnLst/>
            <a:rect r="r" b="b" t="t" l="l"/>
            <a:pathLst>
              <a:path h="1414781" w="766554">
                <a:moveTo>
                  <a:pt x="0" y="0"/>
                </a:moveTo>
                <a:lnTo>
                  <a:pt x="766554" y="0"/>
                </a:lnTo>
                <a:lnTo>
                  <a:pt x="766554" y="1414781"/>
                </a:lnTo>
                <a:lnTo>
                  <a:pt x="0" y="14147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523725" y="2099581"/>
            <a:ext cx="9072889" cy="6119997"/>
          </a:xfrm>
          <a:custGeom>
            <a:avLst/>
            <a:gdLst/>
            <a:ahLst/>
            <a:cxnLst/>
            <a:rect r="r" b="b" t="t" l="l"/>
            <a:pathLst>
              <a:path h="6119997" w="9072889">
                <a:moveTo>
                  <a:pt x="0" y="0"/>
                </a:moveTo>
                <a:lnTo>
                  <a:pt x="9072889" y="0"/>
                </a:lnTo>
                <a:lnTo>
                  <a:pt x="9072889" y="6119996"/>
                </a:lnTo>
                <a:lnTo>
                  <a:pt x="0" y="61199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50058" r="0" b="-53099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39169" y="1804306"/>
            <a:ext cx="7072639" cy="3343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MACHINE LEARNING ON CLOUD</a:t>
            </a:r>
          </a:p>
          <a:p>
            <a:pPr algn="l">
              <a:lnSpc>
                <a:spcPts val="840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39169" y="5566680"/>
            <a:ext cx="6543798" cy="1510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343434"/>
                </a:solidFill>
                <a:latin typeface="The Seasons"/>
                <a:ea typeface="The Seasons"/>
                <a:cs typeface="The Seasons"/>
                <a:sym typeface="The Seasons"/>
              </a:rPr>
              <a:t>AWS SageMaker 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343434"/>
                </a:solidFill>
                <a:latin typeface="The Seasons"/>
                <a:ea typeface="The Seasons"/>
                <a:cs typeface="The Seasons"/>
                <a:sym typeface="The Seasons"/>
              </a:rPr>
              <a:t>Google Vertex AI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343434"/>
                </a:solidFill>
                <a:latin typeface="The Seasons"/>
                <a:ea typeface="The Seasons"/>
                <a:cs typeface="The Seasons"/>
                <a:sym typeface="The Seasons"/>
              </a:rPr>
              <a:t>Azure ML Studio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353152" y="4004029"/>
            <a:ext cx="6268159" cy="2210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7"/>
              </a:lnSpc>
            </a:pPr>
            <a:r>
              <a:rPr lang="en-US" sz="4205" b="true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Clou</a:t>
            </a:r>
            <a:r>
              <a:rPr lang="en-US" b="true" sz="4205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 platforms provide ML services:</a:t>
            </a:r>
          </a:p>
          <a:p>
            <a:pPr algn="ctr">
              <a:lnSpc>
                <a:spcPts val="5887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91544" y="7280413"/>
            <a:ext cx="2592884" cy="662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true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EXAMPLE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1544" y="8114802"/>
            <a:ext cx="7624595" cy="829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343434"/>
                </a:solidFill>
                <a:latin typeface="Agrandir"/>
                <a:ea typeface="Agrandir"/>
                <a:cs typeface="Agrandir"/>
                <a:sym typeface="Agrandir"/>
              </a:rPr>
              <a:t>Training a face recognition mo</a:t>
            </a:r>
            <a:r>
              <a:rPr lang="en-US" sz="2200">
                <a:solidFill>
                  <a:srgbClr val="343434"/>
                </a:solidFill>
                <a:latin typeface="Agrandir"/>
                <a:ea typeface="Agrandir"/>
                <a:cs typeface="Agrandir"/>
                <a:sym typeface="Agrandir"/>
              </a:rPr>
              <a:t>del on a laptop may take 10 days — on cloud GPU clusters, it completes in 2 hours.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99860" y="4292984"/>
            <a:ext cx="6986892" cy="4175832"/>
          </a:xfrm>
          <a:custGeom>
            <a:avLst/>
            <a:gdLst/>
            <a:ahLst/>
            <a:cxnLst/>
            <a:rect r="r" b="b" t="t" l="l"/>
            <a:pathLst>
              <a:path h="4175832" w="6986892">
                <a:moveTo>
                  <a:pt x="0" y="0"/>
                </a:moveTo>
                <a:lnTo>
                  <a:pt x="6986892" y="0"/>
                </a:lnTo>
                <a:lnTo>
                  <a:pt x="6986892" y="4175832"/>
                </a:lnTo>
                <a:lnTo>
                  <a:pt x="0" y="4175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91" t="0" r="-79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949840" y="39872"/>
            <a:ext cx="9249675" cy="12675480"/>
          </a:xfrm>
          <a:custGeom>
            <a:avLst/>
            <a:gdLst/>
            <a:ahLst/>
            <a:cxnLst/>
            <a:rect r="r" b="b" t="t" l="l"/>
            <a:pathLst>
              <a:path h="12675480" w="9249675">
                <a:moveTo>
                  <a:pt x="0" y="0"/>
                </a:moveTo>
                <a:lnTo>
                  <a:pt x="9249675" y="0"/>
                </a:lnTo>
                <a:lnTo>
                  <a:pt x="9249675" y="12675480"/>
                </a:lnTo>
                <a:lnTo>
                  <a:pt x="0" y="126754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99860" y="1826377"/>
            <a:ext cx="7072639" cy="2276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REAL-WORLD APPLICATIONS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86091" y="-905181"/>
            <a:ext cx="9217496" cy="11192181"/>
          </a:xfrm>
          <a:custGeom>
            <a:avLst/>
            <a:gdLst/>
            <a:ahLst/>
            <a:cxnLst/>
            <a:rect r="r" b="b" t="t" l="l"/>
            <a:pathLst>
              <a:path h="11192181" w="9217496">
                <a:moveTo>
                  <a:pt x="0" y="0"/>
                </a:moveTo>
                <a:lnTo>
                  <a:pt x="9217496" y="0"/>
                </a:lnTo>
                <a:lnTo>
                  <a:pt x="9217496" y="11192181"/>
                </a:lnTo>
                <a:lnTo>
                  <a:pt x="0" y="111921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429" r="0" b="-6429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403571"/>
            <a:ext cx="7072639" cy="3343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BENEFITS OF CLOUD IN DATA SCIENCE</a:t>
            </a:r>
          </a:p>
          <a:p>
            <a:pPr algn="l">
              <a:lnSpc>
                <a:spcPts val="840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09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32806" y="4645660"/>
            <a:ext cx="3113708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343434"/>
                </a:solidFill>
                <a:latin typeface="Canva Sans"/>
                <a:ea typeface="Canva Sans"/>
                <a:cs typeface="Canva Sans"/>
                <a:sym typeface="Canva Sans"/>
              </a:rPr>
              <a:t>F</a:t>
            </a:r>
            <a:r>
              <a:rPr lang="en-US" sz="2900">
                <a:solidFill>
                  <a:srgbClr val="343434"/>
                </a:solidFill>
                <a:latin typeface="Canva Sans"/>
                <a:ea typeface="Canva Sans"/>
                <a:cs typeface="Canva Sans"/>
                <a:sym typeface="Canva Sans"/>
              </a:rPr>
              <a:t>aster processing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50678" y="5192490"/>
            <a:ext cx="4678635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343434"/>
                </a:solidFill>
                <a:latin typeface="Canva Sans"/>
                <a:ea typeface="Canva Sans"/>
                <a:cs typeface="Canva Sans"/>
                <a:sym typeface="Canva Sans"/>
              </a:rPr>
              <a:t>Reduce Ifrastructure Cost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32806" y="5714635"/>
            <a:ext cx="4948014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343434"/>
                </a:solidFill>
                <a:latin typeface="Canva Sans"/>
                <a:ea typeface="Canva Sans"/>
                <a:cs typeface="Canva Sans"/>
                <a:sym typeface="Canva Sans"/>
              </a:rPr>
              <a:t>Better Security and Backup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32806" y="6228350"/>
            <a:ext cx="5448598" cy="101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343434"/>
                </a:solidFill>
                <a:latin typeface="Canva Sans"/>
                <a:ea typeface="Canva Sans"/>
                <a:cs typeface="Canva Sans"/>
                <a:sym typeface="Canva Sans"/>
              </a:rPr>
              <a:t>Support for</a:t>
            </a:r>
            <a:r>
              <a:rPr lang="en-US" sz="2900">
                <a:solidFill>
                  <a:srgbClr val="343434"/>
                </a:solidFill>
                <a:latin typeface="Canva Sans"/>
                <a:ea typeface="Canva Sans"/>
                <a:cs typeface="Canva Sans"/>
                <a:sym typeface="Canva Sans"/>
              </a:rPr>
              <a:t> real-time analytics</a:t>
            </a:r>
          </a:p>
          <a:p>
            <a:pPr algn="ctr">
              <a:lnSpc>
                <a:spcPts val="406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922346"/>
            <a:ext cx="2376413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Example 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16907" y="7790647"/>
            <a:ext cx="10122173" cy="102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6"/>
              </a:lnSpc>
            </a:pPr>
            <a:r>
              <a:rPr lang="en-US" sz="2933">
                <a:solidFill>
                  <a:srgbClr val="343434"/>
                </a:solidFill>
                <a:latin typeface="Canva Sans"/>
                <a:ea typeface="Canva Sans"/>
                <a:cs typeface="Canva Sans"/>
                <a:sym typeface="Canva Sans"/>
              </a:rPr>
              <a:t>Ride-sharing apps like Uber/Ola analyze real-time GPS data to match drivers &amp; riders instantly.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9154" r="0" b="-1915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10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4200" y="1232387"/>
            <a:ext cx="6034757" cy="1576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343434"/>
                </a:solidFill>
                <a:latin typeface="Gagalin"/>
                <a:ea typeface="Gagalin"/>
                <a:cs typeface="Gagalin"/>
                <a:sym typeface="Gagalin"/>
              </a:rPr>
              <a:t>CHALLENGES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04200" y="3514490"/>
            <a:ext cx="7647930" cy="130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62"/>
              </a:lnSpc>
            </a:pPr>
            <a:r>
              <a:rPr lang="en-US" sz="3759" b="true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</a:t>
            </a:r>
            <a:r>
              <a:rPr lang="en-US" b="true" sz="3759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privacy &amp; security concerns</a:t>
            </a:r>
          </a:p>
          <a:p>
            <a:pPr algn="ctr">
              <a:lnSpc>
                <a:spcPts val="5262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04200" y="4144252"/>
            <a:ext cx="4962971" cy="1304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5"/>
              </a:lnSpc>
            </a:pPr>
            <a:r>
              <a:rPr lang="en-US" sz="3782" b="true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Internet</a:t>
            </a:r>
            <a:r>
              <a:rPr lang="en-US" b="true" sz="3782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dependency</a:t>
            </a:r>
          </a:p>
          <a:p>
            <a:pPr algn="ctr">
              <a:lnSpc>
                <a:spcPts val="5295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04200" y="4762967"/>
            <a:ext cx="4843652" cy="1287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1"/>
              </a:lnSpc>
            </a:pPr>
            <a:r>
              <a:rPr lang="en-US" sz="3700" b="true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Ven</a:t>
            </a:r>
            <a:r>
              <a:rPr lang="en-US" b="true" sz="3700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dor lock-in issues</a:t>
            </a:r>
          </a:p>
          <a:p>
            <a:pPr algn="ctr">
              <a:lnSpc>
                <a:spcPts val="5181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74760" y="5373543"/>
            <a:ext cx="9595228" cy="64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3771" b="true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High</a:t>
            </a:r>
            <a:r>
              <a:rPr lang="en-US" b="true" sz="3771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cost for long-term heavy computing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336887" y="970194"/>
            <a:ext cx="4652055" cy="6106516"/>
          </a:xfrm>
          <a:custGeom>
            <a:avLst/>
            <a:gdLst/>
            <a:ahLst/>
            <a:cxnLst/>
            <a:rect r="r" b="b" t="t" l="l"/>
            <a:pathLst>
              <a:path h="6106516" w="4652055">
                <a:moveTo>
                  <a:pt x="0" y="0"/>
                </a:moveTo>
                <a:lnTo>
                  <a:pt x="4652056" y="0"/>
                </a:lnTo>
                <a:lnTo>
                  <a:pt x="4652056" y="6106517"/>
                </a:lnTo>
                <a:lnTo>
                  <a:pt x="0" y="61065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9154" r="0" b="-1915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847725"/>
            <a:ext cx="5695876" cy="1576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3085923"/>
            <a:ext cx="11696162" cy="4058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7"/>
              </a:lnSpc>
            </a:pPr>
            <a:r>
              <a:rPr lang="en-US" sz="328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Clou</a:t>
            </a:r>
            <a:r>
              <a:rPr lang="en-US" b="true" sz="328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 computing is the backbone of modern data science</a:t>
            </a:r>
          </a:p>
          <a:p>
            <a:pPr algn="ctr">
              <a:lnSpc>
                <a:spcPts val="4597"/>
              </a:lnSpc>
            </a:pPr>
            <a:r>
              <a:rPr lang="en-US" b="true" sz="328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Enables large-scale data storage, fast computation &amp; AI model deploymentUsed widely in business, healthcare, government &amp; research</a:t>
            </a:r>
          </a:p>
          <a:p>
            <a:pPr algn="ctr">
              <a:lnSpc>
                <a:spcPts val="4597"/>
              </a:lnSpc>
            </a:pPr>
            <a:r>
              <a:rPr lang="en-US" b="true" sz="328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➡️ Future: More automation, edge computing, and AI-powered cloud platforms</a:t>
            </a:r>
          </a:p>
          <a:p>
            <a:pPr algn="ctr">
              <a:lnSpc>
                <a:spcPts val="4597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33983" y="3152569"/>
            <a:ext cx="16420035" cy="387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08"/>
              </a:lnSpc>
            </a:pPr>
            <a:r>
              <a:rPr lang="en-US" b="true" sz="19362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354446">
            <a:off x="15843106" y="2606653"/>
            <a:ext cx="1497033" cy="2339114"/>
          </a:xfrm>
          <a:custGeom>
            <a:avLst/>
            <a:gdLst/>
            <a:ahLst/>
            <a:cxnLst/>
            <a:rect r="r" b="b" t="t" l="l"/>
            <a:pathLst>
              <a:path h="2339114" w="1497033">
                <a:moveTo>
                  <a:pt x="0" y="0"/>
                </a:moveTo>
                <a:lnTo>
                  <a:pt x="1497033" y="0"/>
                </a:lnTo>
                <a:lnTo>
                  <a:pt x="1497033" y="2339115"/>
                </a:lnTo>
                <a:lnTo>
                  <a:pt x="0" y="23391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885027">
            <a:off x="5092713" y="2195823"/>
            <a:ext cx="2206219" cy="1740908"/>
          </a:xfrm>
          <a:custGeom>
            <a:avLst/>
            <a:gdLst/>
            <a:ahLst/>
            <a:cxnLst/>
            <a:rect r="r" b="b" t="t" l="l"/>
            <a:pathLst>
              <a:path h="1740908" w="2206219">
                <a:moveTo>
                  <a:pt x="0" y="0"/>
                </a:moveTo>
                <a:lnTo>
                  <a:pt x="2206220" y="0"/>
                </a:lnTo>
                <a:lnTo>
                  <a:pt x="2206220" y="1740908"/>
                </a:lnTo>
                <a:lnTo>
                  <a:pt x="0" y="17409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91839" y="8205407"/>
            <a:ext cx="4202073" cy="2521244"/>
          </a:xfrm>
          <a:custGeom>
            <a:avLst/>
            <a:gdLst/>
            <a:ahLst/>
            <a:cxnLst/>
            <a:rect r="r" b="b" t="t" l="l"/>
            <a:pathLst>
              <a:path h="2521244" w="4202073">
                <a:moveTo>
                  <a:pt x="0" y="0"/>
                </a:moveTo>
                <a:lnTo>
                  <a:pt x="4202074" y="0"/>
                </a:lnTo>
                <a:lnTo>
                  <a:pt x="4202074" y="2521245"/>
                </a:lnTo>
                <a:lnTo>
                  <a:pt x="0" y="25212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839221">
            <a:off x="9785300" y="7617346"/>
            <a:ext cx="1170380" cy="2030628"/>
          </a:xfrm>
          <a:custGeom>
            <a:avLst/>
            <a:gdLst/>
            <a:ahLst/>
            <a:cxnLst/>
            <a:rect r="r" b="b" t="t" l="l"/>
            <a:pathLst>
              <a:path h="2030628" w="1170380">
                <a:moveTo>
                  <a:pt x="0" y="0"/>
                </a:moveTo>
                <a:lnTo>
                  <a:pt x="1170381" y="0"/>
                </a:lnTo>
                <a:lnTo>
                  <a:pt x="1170381" y="2030628"/>
                </a:lnTo>
                <a:lnTo>
                  <a:pt x="0" y="20306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DAG6hJ3HNXY</dc:identifier>
  <dcterms:modified xsi:type="dcterms:W3CDTF">2011-08-01T06:04:30Z</dcterms:modified>
  <cp:revision>1</cp:revision>
  <dc:title>Saubhagya</dc:title>
</cp:coreProperties>
</file>